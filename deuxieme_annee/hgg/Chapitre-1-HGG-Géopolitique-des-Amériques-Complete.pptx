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1C4E9A"/>
                </a:solidFill>
                <a:latin typeface="Playfair Display"/>
              </a:defRPr>
            </a:pPr>
            <a:r>
              <a:t>Chapitre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spcAft>
                <a:spcPts val="0"/>
              </a:spcAft>
              <a:defRPr sz="2400">
                <a:solidFill>
                  <a:srgbClr val="0B2357"/>
                </a:solidFill>
                <a:latin typeface="DM Sans"/>
              </a:defRPr>
            </a:pPr>
            <a:r>
              <a:t>Géopolitique des Amériques</a:t>
            </a:r>
          </a:p>
          <a:p/>
          <a:p>
            <a:r>
              <a:t>Un continent démesuré, tiraillé entre rêves d'unité</a:t>
            </a:r>
          </a:p>
          <a:p>
            <a:r>
              <a:t>et fractures profondes, intégré autour de puissances dominantes</a:t>
            </a:r>
          </a:p>
          <a:p>
            <a:r>
              <a:t>et traversé de tensions à toutes les échelles.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L'essentiel en 30 secondes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Un continent fortement contrasté : fracture Nord-Sud, inégalités internes parmi les plus fortes du monde, États nés de la colonisation et démocraties fragilisées.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Une intégration plurielle : nationale (fronts pionniers, minorités), fonctionnelle (migrations, maquiladoras, bassin caraïbe) et régionale (Mercosur, ACEUM), toujours dominée par une puissance.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Des tensions à toutes les échelles : l'hégémonie des États-Unis, de la doctrine Monroe à Trump, des litiges frontaliers hérités et la violence de l'antimonde.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Chiffres clés du continent américain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1C4E9A"/>
                </a:solidFill>
                <a:latin typeface="DM Sans"/>
              </a:defRPr>
            </a:pPr>
            <a:r>
              <a:t>15 000 km • Du cap Columbia (Canada) au cap Horn (Chili)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1C4E9A"/>
                </a:solidFill>
                <a:latin typeface="DM Sans"/>
              </a:defRPr>
            </a:pPr>
            <a:r>
              <a:t>55 % • Des revenus aux 10 % les plus riches d'Amérique latine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1C4E9A"/>
                </a:solidFill>
                <a:latin typeface="DM Sans"/>
              </a:defRPr>
            </a:pPr>
            <a:r>
              <a:t>16 • Organisations régionales, un record mondial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1C4E9A"/>
                </a:solidFill>
                <a:latin typeface="DM Sans"/>
              </a:defRPr>
            </a:pPr>
            <a:r>
              <a:t>34 % • Des homicides du monde, pour 9 % des habitants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Sommaire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Partie I : Un continent fortement contrasté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→ Combien d'Amériques 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Partie II : Des intégrations plurielles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→ Reflets des ambitions des puissances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Partie III : Un continent marqué par des tensions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→ À toutes les échelles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1C4E9A"/>
                </a:solidFill>
                <a:latin typeface="Playfair Display"/>
              </a:defRPr>
            </a:pPr>
            <a:r>
              <a:t>Partie I : Un continent fortement contrasté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spcAft>
                <a:spcPts val="0"/>
              </a:spcAft>
              <a:defRPr sz="2000">
                <a:solidFill>
                  <a:srgbClr val="0D1830"/>
                </a:solidFill>
                <a:latin typeface="DM Sans"/>
              </a:defRPr>
            </a:pPr>
            <a:r>
              <a:t>Combien d'Amériques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I.1 L'Amérique, un continent 'schizophrène'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Un continent démesuré : 15 000 km du nord au sud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Double tension permanente : unification vs fragmentation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Fractures : géographique, sociale, politique, culturelle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Expression 'Amérique latine' : forgée dans la France de Napoléon III (1850-1860)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Le Brésil (lusophone) ne se reconnaît pas spontanément dans ce terme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Les rêves d'unité : un seul monde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Conscience d'appartenir à un 'Nouveau Monde' naît avec les indépendances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Trois épisodes fondateurs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• Guerre d'indépendance des États-Unis (1776-1783)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• Révolte d'Haïti (1791) → première république noire en 1804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• Révolutions d'Amérique latine menées par Simón Bolívar (le Libertador)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Doctrine Monroe (1823) : 'L'Amérique aux Américains' → volonté de domination 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Un continent démesuré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1C4E9A"/>
                </a:solidFill>
                <a:latin typeface="DM Sans"/>
              </a:defRPr>
            </a:pPr>
            <a:r>
              <a:t>~15 000 km • Du cap Columbia au cap Horn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1C4E9A"/>
                </a:solidFill>
                <a:latin typeface="DM Sans"/>
              </a:defRPr>
            </a:pPr>
            <a:r>
              <a:t>42 M km² • Superficie du continent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1C4E9A"/>
                </a:solidFill>
                <a:latin typeface="DM Sans"/>
              </a:defRPr>
            </a:pPr>
            <a:r>
              <a:t>+1 Md • Habitants (2022)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1C4E9A"/>
                </a:solidFill>
                <a:latin typeface="DM Sans"/>
              </a:defRPr>
            </a:pPr>
            <a:r>
              <a:t>35 • États souverains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1C4E9A"/>
                </a:solidFill>
                <a:latin typeface="Playfair Display"/>
              </a:defRPr>
            </a:pPr>
            <a:r>
              <a:t>I.2 Un des plus forts différentiels socio-économiques au monde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spcAft>
                <a:spcPts val="0"/>
              </a:spcAft>
              <a:defRPr sz="2000">
                <a:solidFill>
                  <a:srgbClr val="0D1830"/>
                </a:solidFill>
                <a:latin typeface="DM Sans"/>
              </a:defRPr>
            </a:pPr>
            <a:r>
              <a:t>Fracture Nord-Sud et inégalités internes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Fracture Nord-Sud encore prégnante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Indice de développement humain (IDH) : ligne de fracture nette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États-Unis et Canada &gt; 0,9, la plupart des autres entre 0,7 et 0,8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Cône Sud (Chili, Argentine, Uruguay) : plus développés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Amérique centrale et Caraïbes : moins développés (Haïti : IDH le plus faible)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IDH ajusté aux inégalités : certains pays reculent fortement (Brésil, Bolivie, Colombie)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IDH 2022 (de 0 à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 i="1">
                <a:solidFill>
                  <a:srgbClr val="0D1830"/>
                </a:solidFill>
                <a:latin typeface="DM Sans"/>
              </a:defRPr>
            </a:pPr>
            <a:r>
              <a:t>Source : PNUD, Rapport sur le développement humain 2023-2024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1C4E9A"/>
                </a:solidFill>
                <a:latin typeface="DM Sans"/>
              </a:defRPr>
            </a:pPr>
            <a:r>
              <a:t>Canada • 0,935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1C4E9A"/>
                </a:solidFill>
                <a:latin typeface="DM Sans"/>
              </a:defRPr>
            </a:pPr>
            <a:r>
              <a:t>États-Unis • 0,927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1C4E9A"/>
                </a:solidFill>
                <a:latin typeface="DM Sans"/>
              </a:defRPr>
            </a:pPr>
            <a:r>
              <a:t>Chili • 0,860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1C4E9A"/>
                </a:solidFill>
                <a:latin typeface="DM Sans"/>
              </a:defRPr>
            </a:pPr>
            <a:r>
              <a:t>Mexique • 0,781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1C4E9A"/>
                </a:solidFill>
                <a:latin typeface="DM Sans"/>
              </a:defRPr>
            </a:pPr>
            <a:r>
              <a:t>Brésil • 0,760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 b="1">
                <a:solidFill>
                  <a:srgbClr val="1C4E9A"/>
                </a:solidFill>
                <a:latin typeface="DM Sans"/>
              </a:defRPr>
            </a:pPr>
            <a:r>
              <a:t>Haïti • 0,552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I.3 Des systèmes politiques variés, hérités de la colonisation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Héritage colonial : systèmes présidentiels, parlementaires, fédéraux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Démocraties fragilisées : coups d'État, instabilité politique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Crises démocratiques récurrentes en Amérique latine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Modèle américain : démocratie stable mais polarisée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Modèle canadien : monarchie constitutionnelle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I.4 Des différences culturelles héritées de la colonisation, à nuancer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Clivage culturel : Amérique anglo-saxonne vs Amérique latine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Héritage ibérique : langue espagnole et portugaise, catholicisme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Héritage britannique : langue anglaise, protestantisme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Métissage et diversité ethnique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Identités autochtones et afro-américaines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1C4E9A"/>
                </a:solidFill>
                <a:latin typeface="Playfair Display"/>
              </a:defRPr>
            </a:pPr>
            <a:r>
              <a:t>Partie II : Des intégrations plurielles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spcAft>
                <a:spcPts val="0"/>
              </a:spcAft>
              <a:defRPr sz="2000">
                <a:solidFill>
                  <a:srgbClr val="0D1830"/>
                </a:solidFill>
                <a:latin typeface="DM Sans"/>
              </a:defRPr>
            </a:pPr>
            <a:r>
              <a:t>Reflets des ambitions des puissances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II.1 L'intégration nationale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 i="1">
                <a:solidFill>
                  <a:srgbClr val="0D1830"/>
                </a:solidFill>
                <a:latin typeface="DM Sans"/>
              </a:defRPr>
            </a:pPr>
            <a:r>
              <a:t>Territoire national et identités plurielles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Territoire national et identités plurielles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Construction nationale par les fronts pionniers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Intégration des minorités et populations autochtones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Gestion des identités plurielles dans un cadre national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Exemple : melting pot américain vs métissage latino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II.2 Une intégration fonctionnelle et productive forte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Migrations internes et internationales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Maquiladoras : zones industrielles à la frontière Mexique/États-Unis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Bassin caraïbe : espace économique intégré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Flux commerciaux et investissements croisés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Réseaux de transport et infrastructures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II.3 L'Amérique : laboratoire de l'intégration régionale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16 organisations régionales (record mondial)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Mercosur : marché commun du Cône Sud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ACEUM : accord Canada-États-Unis-Mexique (remplace l'ALENA)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OEA : Organisation des États américains (fondée en 1948)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Projets concurrents et chevauchants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1C4E9A"/>
                </a:solidFill>
                <a:latin typeface="Playfair Display"/>
              </a:defRPr>
            </a:pPr>
            <a:r>
              <a:t>Partie III : Un continent marqué par des 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spcAft>
                <a:spcPts val="0"/>
              </a:spcAft>
              <a:defRPr sz="2000">
                <a:solidFill>
                  <a:srgbClr val="0D1830"/>
                </a:solidFill>
                <a:latin typeface="DM Sans"/>
              </a:defRPr>
            </a:pPr>
            <a:r>
              <a:t>À toutes les échelles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III.1 À l'échelle continentale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 i="1">
                <a:solidFill>
                  <a:srgbClr val="0D1830"/>
                </a:solidFill>
                <a:latin typeface="DM Sans"/>
              </a:defRPr>
            </a:pPr>
            <a:r>
              <a:t>Les tensions liées à l'hégémonie états-unienne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Les tensions liées à l'hégémonie états-unienne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Doctrine Monroe (1823) : fondement de l'hégémonie 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Interventionnisme américain : Cuba, Amérique centrale, Amérique du Sud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Soft power : culture, économie, diplomatie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Hard power : bases militaires, sanctions économiques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Résistances : révolution cubaine, anti-américanisme, alliances alternatives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III.2 Des tensions frontalières entre plusieurs États américains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Litiges territoriaux hérités de la colonisation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Frontière États-Unis/Mexique : migration, drogue, sécurité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Conflits en Amérique du Sud : Bolivie/Chili, Argentine/Royaume-Uni (Malouines)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Tensions dans les Caraïbes : souveraineté, influence étrangère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III.3 Des tensions internes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 i="1">
                <a:solidFill>
                  <a:srgbClr val="0D1830"/>
                </a:solidFill>
                <a:latin typeface="DM Sans"/>
              </a:defRPr>
            </a:pPr>
            <a:r>
              <a:t>Liées au pouvoir et aux inégalités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Liées au pouvoir et aux inégalités : le continent de la violence 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Inégalités sociales parmi les plus fortes au monde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Violence des cartels (Mexique, Colombie)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Maras en Amérique centrale (Salvador, Honduras, Guatemala)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34 % des homicides mondiaux pour seulement 9 % de la population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Instabilité politique : coups d'État, crises démocratiques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C4E9A"/>
                </a:solidFill>
                <a:latin typeface="Playfair Display"/>
              </a:defRPr>
            </a:pPr>
            <a:r>
              <a:t>Bilan • Chapitre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Il n'y a pas une Amérique mais des Amériques : un continent démesuré, intégré autour de puissances dominantes, mais fragmenté par ses inégalités, ses héritages coloniaux et ses violences.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Un continent fortement contrasté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→ Un Nord riche fait face à un Sud parmi les plus inégalitaires du monde, où des États nés de la colonisation peinent à stabiliser leurs démocraties.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Des intégrations plurielles et asymétriques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→ Fronts pionniers, migrations, régions transfrontalières et blocs régionaux unissent le continent, mais toujours au profit d'une puissance (États-Unis ou Brésil).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Des tensions à toutes les échelles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→ L'hégémonie des États-Unis pèse sur tout le continent, des frontières restent disputées et la violence des cartels et des maras mine les sociétés de l'intérieur.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C4E9A"/>
                </a:solidFill>
                <a:latin typeface="Playfair Display"/>
              </a:defRPr>
            </a:pPr>
            <a:r>
              <a:t>Fin du Chapitre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0B2357"/>
                </a:solidFill>
                <a:latin typeface="Playfair Display"/>
              </a:defRPr>
            </a:pPr>
            <a:r>
              <a:t>Géopolitique des Amériques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0D1830"/>
                </a:solidFill>
                <a:latin typeface="DM Mono"/>
              </a:defRPr>
            </a:pPr>
            <a:r>
              <a:t>HGG • 2e année ECG • Prépa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